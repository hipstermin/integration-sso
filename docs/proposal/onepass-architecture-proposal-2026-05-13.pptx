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4754880"/>
            <a:ext cx="3502152" cy="2103120"/>
          </a:xfrm>
          <a:prstGeom prst="rect">
            <a:avLst/>
          </a:prstGeom>
          <a:solidFill>
            <a:srgbClr val="0A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0" y="4754880"/>
            <a:ext cx="3502152" cy="73152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OnePass 통합인증 플랫폼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AED6"/>
                </a:solidFill>
              </a:rPr>
              <a:t>100,000 TPO를 향한 설계 — 왜 지금 방향을 바꿔야 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743200"/>
            <a:ext cx="6858000" cy="45720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99"/>
                </a:solidFill>
              </a:rPr>
              <a:t>일시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30175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2026년 5월 13일  10:30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9300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99"/>
                </a:solidFill>
              </a:rPr>
              <a:t>목적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3493008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정식 프로젝트 착수 방향 정렬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68496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99"/>
                </a:solidFill>
              </a:rPr>
              <a:t>대상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96849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각 개발팀 및 관계자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48920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99"/>
                </a:solidFill>
              </a:rPr>
              <a:t>integration-sso  v2.3.0  |  Sprint 10 완료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32180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0B072"/>
                </a:solidFill>
              </a:rPr>
              <a:t>Build ✓  397 Tests 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AED6"/>
                </a:solidFill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오늘 논의할 내용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698480" cy="45720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63624"/>
            <a:ext cx="566928" cy="566928"/>
          </a:xfrm>
          <a:prstGeom prst="rect">
            <a:avLst/>
          </a:prstGeom>
          <a:solidFill>
            <a:srgbClr val="1A5CBF"/>
          </a:solidFill>
          <a:ln w="19050">
            <a:solidFill>
              <a:srgbClr val="00A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66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AED6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508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현재 상황 — 시연 프로젝트의 구조적 한계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892808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99"/>
                </a:solidFill>
              </a:rPr>
              <a:t>단일 장애점·확장 불가·설계 불일치를 한눈에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404872"/>
            <a:ext cx="566928" cy="566928"/>
          </a:xfrm>
          <a:prstGeom prst="rect">
            <a:avLst/>
          </a:prstGeom>
          <a:solidFill>
            <a:srgbClr val="1A5CBF"/>
          </a:solidFill>
          <a:ln w="19050">
            <a:solidFill>
              <a:srgbClr val="00A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395728"/>
            <a:ext cx="566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AED6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35000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TPO · TPS — 목표 수치의 의미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734056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99"/>
                </a:solidFill>
              </a:rPr>
              <a:t>TPO 100k / TPS 100 이 왜 중요한가, 두 지표의 차이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246120"/>
            <a:ext cx="566928" cy="566928"/>
          </a:xfrm>
          <a:prstGeom prst="rect">
            <a:avLst/>
          </a:prstGeom>
          <a:solidFill>
            <a:srgbClr val="1A5CBF"/>
          </a:solidFill>
          <a:ln w="19050">
            <a:solidFill>
              <a:srgbClr val="00A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36976"/>
            <a:ext cx="566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AED6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19125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목표 설계 — integration-sso 아키텍처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57530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99"/>
                </a:solidFill>
              </a:rPr>
              <a:t>수평 확장·EDA·장애 격리가 내장된 구조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087368"/>
            <a:ext cx="566928" cy="566928"/>
          </a:xfrm>
          <a:prstGeom prst="rect">
            <a:avLst/>
          </a:prstGeom>
          <a:solidFill>
            <a:srgbClr val="1A5CBF"/>
          </a:solidFill>
          <a:ln w="19050">
            <a:solidFill>
              <a:srgbClr val="00A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78224"/>
            <a:ext cx="566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AED6"/>
                </a:solidFill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03250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시연 vs 목표 설계 비교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41655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99"/>
                </a:solidFill>
              </a:rPr>
              <a:t>11개 항목 기준 정밀 대조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928616"/>
            <a:ext cx="566928" cy="566928"/>
          </a:xfrm>
          <a:prstGeom prst="rect">
            <a:avLst/>
          </a:prstGeom>
          <a:solidFill>
            <a:srgbClr val="1A5CBF"/>
          </a:solidFill>
          <a:ln w="19050">
            <a:solidFill>
              <a:srgbClr val="00A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919472"/>
            <a:ext cx="566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AED6"/>
                </a:solidFill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87375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왜 지금 방향을 전환해야 하는가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25780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99"/>
                </a:solidFill>
              </a:rPr>
              <a:t>지금 결정하지 않으면 발생하는 비용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769864"/>
            <a:ext cx="566928" cy="566928"/>
          </a:xfrm>
          <a:prstGeom prst="rect">
            <a:avLst/>
          </a:prstGeom>
          <a:solidFill>
            <a:srgbClr val="1A5CBF"/>
          </a:solidFill>
          <a:ln w="19050">
            <a:solidFill>
              <a:srgbClr val="00A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760720"/>
            <a:ext cx="566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AED6"/>
                </a:solidFill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57150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단계별 전환 로드맵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6099048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99"/>
                </a:solidFill>
              </a:rPr>
              <a:t>3단계 착수 계획 및 팀별 역할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D7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72638"/>
                </a:solidFill>
              </a:rPr>
              <a:t>01  현재 상황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시연 프로젝트의 구조적 한계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698480" cy="45720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303520" cy="5029200"/>
          </a:xfrm>
          <a:prstGeom prst="rect">
            <a:avLst/>
          </a:prstGeom>
          <a:solidFill>
            <a:srgbClr val="0A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7276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8A07"/>
                </a:solidFill>
              </a:rPr>
              <a:t>[ 현재 시연 프로젝트 구조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CCFF"/>
                </a:solidFill>
              </a:rPr>
              <a:t>        브라우저 (FE)
   ┌──────────────────────┐
   │  beInstance   extInstance │
   └──────┬───────────┬────┘
          │ /api/v1/  │ /api/ext/**
          │ auth/**   │  (26개 API)
          ▼           ▼
       [ido BFF]   [Q-IM] ◄── 실질적
      (7개 엔드  (인증+회원+        전면
       포인트만)  프로비저닝
                  +약관+동의
                  +기업인증…)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394960"/>
            <a:ext cx="5120640" cy="868680"/>
          </a:xfrm>
          <a:prstGeom prst="rect">
            <a:avLst/>
          </a:prstGeom>
          <a:solidFill>
            <a:srgbClr val="4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44068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8A07"/>
                </a:solidFill>
              </a:rPr>
              <a:t>⚠  단일 장애점: Q-IM 장애 = 서비스 전체 중단
    Pod 늘려도 병목은 Q-IM 한 곳에 집중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63040"/>
            <a:ext cx="5577840" cy="160020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463040"/>
            <a:ext cx="1143000" cy="347472"/>
          </a:xfrm>
          <a:prstGeom prst="rect">
            <a:avLst/>
          </a:prstGeom>
          <a:solidFill>
            <a:srgbClr val="D7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463040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PROBLEM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481328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2638"/>
                </a:solidFill>
              </a:rPr>
              <a:t>Q-IM이 전면 시스템 역할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874520"/>
            <a:ext cx="53949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BCCDD"/>
                </a:solidFill>
              </a:rPr>
              <a:t>• FE→Q-IM 직접 호출 26개 API
• 회원·프로비저닝·약관·동의·기업인증
  모두 Q-IM 직접 접근
• ido BFF는 NICE/OACX 7개만 처리
→ 보안 정책·감사로그 집행 불가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3154680"/>
            <a:ext cx="5577840" cy="160020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3154680"/>
            <a:ext cx="1143000" cy="347472"/>
          </a:xfrm>
          <a:prstGeom prst="rect">
            <a:avLst/>
          </a:prstGeom>
          <a:solidFill>
            <a:srgbClr val="F58A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3154680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PROBLEM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3172968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8A07"/>
                </a:solidFill>
              </a:rPr>
              <a:t>확장 불가능한 단층 구조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566160"/>
            <a:ext cx="53949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BCCDD"/>
                </a:solidFill>
              </a:rPr>
              <a:t>• Q-IM 호출 경로에 Rate Limit 없음
• Circuit Breaker 미적용
• 기관별 트래픽 격리 없음
• 수평 확장해도 Q-IM이 병목
→ TPO 수만 이상에서 붕괴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4846320"/>
            <a:ext cx="5577840" cy="160020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4846320"/>
            <a:ext cx="1143000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4846320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PROBLEM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4864608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700"/>
                </a:solidFill>
              </a:rPr>
              <a:t>설계 불일치 &amp; 시연용 코드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5257800"/>
            <a:ext cx="53949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BCCDD"/>
                </a:solidFill>
              </a:rPr>
              <a:t>• SKIP_AUTH=true — 인증 전체 우회
• AES_GCM_KEY 평문 JS 번들 노출
• Math.random() 임시 비밀번호
• q-sign OIDC 브로커 미구현
→ 운영 전환 시 전면 재작업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ED6"/>
                </a:solidFill>
              </a:rPr>
              <a:t>02  목표 수치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TPO vs TPS — 두 지표가 왜 모두 필요한가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698480" cy="45720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44752"/>
            <a:ext cx="5120640" cy="2304288"/>
          </a:xfrm>
          <a:prstGeom prst="rect">
            <a:avLst/>
          </a:prstGeom>
          <a:solidFill>
            <a:srgbClr val="0A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5120640" cy="402336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50840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F2D52"/>
                </a:solidFill>
              </a:rPr>
              <a:t>TPO  —  Transactions Per Operation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2024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일(日) 단위 누적 처리 건수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48463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DD"/>
                </a:solidFill>
              </a:rPr>
              <a:t>연계 기관 수  ×  기관별 일 평균 인증 요청 건수
→ 시스템 전체의 '하루 처리 규모'를 나타내는 지표
→ DB 용량·배치 처리·감사 로그 규모 산정 기준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3401568"/>
            <a:ext cx="2560320" cy="292608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34107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2D52"/>
                </a:solidFill>
              </a:rPr>
              <a:t>목표:  100,000 TPO / day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444752"/>
            <a:ext cx="5120640" cy="2304288"/>
          </a:xfrm>
          <a:prstGeom prst="rect">
            <a:avLst/>
          </a:prstGeom>
          <a:solidFill>
            <a:srgbClr val="0A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44752"/>
            <a:ext cx="5120640" cy="402336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1463040"/>
            <a:ext cx="50840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TPS  —  Transactions Per Second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92024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초(秒) 단위 순간 처리량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286000"/>
            <a:ext cx="48463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DD"/>
                </a:solidFill>
              </a:rPr>
              <a:t>피크 시간대(09~10시) 집중 요청을 처리하는 순간 처리 능력
→ Pod 수·CPU 코어·네트워크 대역폭 산정 기준
→ Circuit Breaker·Rate Limit 임계값 설정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06640" y="3401568"/>
            <a:ext cx="2560320" cy="292608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34107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목표:  100 TPS (버스트 대응)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2120" y="237744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888899"/>
                </a:solidFill>
              </a:rPr>
              <a:t>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288036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99"/>
                </a:solidFill>
              </a:rPr>
              <a:t>연관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822191"/>
            <a:ext cx="10698480" cy="566928"/>
          </a:xfrm>
          <a:prstGeom prst="rect">
            <a:avLst/>
          </a:prstGeom>
          <a:solidFill>
            <a:srgbClr val="06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3822191"/>
            <a:ext cx="109728" cy="5669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895344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D700"/>
                </a:solidFill>
              </a:rPr>
              <a:t>관계식:  TPO ÷ 86,400초  =  평균 TPS   →   100,000 TPO ÷ 86,400 ≈ 1.16 TPS (평균)   →   피크 집중률 15% 가정 시  ≈  20~50 TPS   →   장애 여유치  ≈  100 TPS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480560"/>
            <a:ext cx="2633472" cy="214884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" y="4480560"/>
            <a:ext cx="2633472" cy="347472"/>
          </a:xfrm>
          <a:prstGeom prst="rect">
            <a:avLst/>
          </a:prstGeom>
          <a:solidFill>
            <a:srgbClr val="F58A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일반 TPS (로그인)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901184"/>
            <a:ext cx="2468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8A07"/>
                </a:solidFill>
              </a:rPr>
              <a:t>20 ~ 50 TPS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5577840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99"/>
                </a:solidFill>
              </a:rPr>
              <a:t>피크 시간대 집중률
5~15% 기준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20440" y="4480560"/>
            <a:ext cx="2633472" cy="214884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20440" y="4480560"/>
            <a:ext cx="2633472" cy="347472"/>
          </a:xfrm>
          <a:prstGeom prst="rect">
            <a:avLst/>
          </a:prstGeom>
          <a:solidFill>
            <a:srgbClr val="D7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0440" y="4480560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버스트 TPS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1880" y="4901184"/>
            <a:ext cx="2468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72638"/>
                </a:solidFill>
              </a:rPr>
              <a:t>100 TPS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30168" y="5577840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99"/>
                </a:solidFill>
              </a:rPr>
              <a:t>장애 대비 여유치
Circuit Breaker 임계값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4480560"/>
            <a:ext cx="2633472" cy="214884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09360" y="4480560"/>
            <a:ext cx="2633472" cy="347472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4480560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일 처리량 (TPO)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901184"/>
            <a:ext cx="2468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ED6"/>
                </a:solidFill>
              </a:rPr>
              <a:t>100,000 ~ 200,000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19088" y="5577840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99"/>
                </a:solidFill>
              </a:rPr>
              <a:t>공공기관 평균 패턴
기관 수 확장 고려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98280" y="4480560"/>
            <a:ext cx="2633472" cy="214884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098280" y="4480560"/>
            <a:ext cx="2633472" cy="347472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98280" y="4480560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SSO 최종 목표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89720" y="4901184"/>
            <a:ext cx="2468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B072"/>
                </a:solidFill>
              </a:rPr>
              <a:t>100K TPO  /  100 TPS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8008" y="5577840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99"/>
                </a:solidFill>
              </a:rPr>
              <a:t>안정적 운영 기준
피크 5× 버스트 수용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601968"/>
            <a:ext cx="10698480" cy="201168"/>
          </a:xfrm>
          <a:prstGeom prst="rect">
            <a:avLst/>
          </a:prstGeom>
          <a:solidFill>
            <a:srgbClr val="00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" y="6611112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072"/>
                </a:solidFill>
              </a:rPr>
              <a:t>달성 조건:  ① Stateless 수평 확장  ② EDA 비동기 (동기 직접 호출 제거)  ③ 단일 장애점 제거  ④ 기관별 Rate Limit / Circuit Breaker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ED6"/>
                </a:solidFill>
              </a:rPr>
              <a:t>02-B  달성 전략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100K TPO / 100 TPS — 단계별 달성 전략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698480" cy="45720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1481328"/>
          </a:xfrm>
          <a:prstGeom prst="rect">
            <a:avLst/>
          </a:prstGeom>
          <a:solidFill>
            <a:srgbClr val="0A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88899"/>
                </a:solidFill>
              </a:rPr>
              <a:t>처리량 성장 경로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2423160"/>
            <a:ext cx="10058400" cy="54864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304288"/>
            <a:ext cx="274320" cy="274320"/>
          </a:xfrm>
          <a:prstGeom prst="rect">
            <a:avLst/>
          </a:prstGeom>
          <a:solidFill>
            <a:srgbClr val="D7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90472"/>
            <a:ext cx="841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D72638"/>
                </a:solidFill>
              </a:rPr>
              <a:t>지금 (시연)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15184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BCCDD"/>
                </a:solidFill>
              </a:rPr>
              <a:t>~수백 TPO
~수 TPS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2304288"/>
            <a:ext cx="274320" cy="274320"/>
          </a:xfrm>
          <a:prstGeom prst="rect">
            <a:avLst/>
          </a:prstGeom>
          <a:solidFill>
            <a:srgbClr val="F58A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1490472"/>
            <a:ext cx="841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58A07"/>
                </a:solidFill>
              </a:rPr>
              <a:t>Phase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2615184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BCCDD"/>
                </a:solidFill>
              </a:rPr>
              <a:t>~5,000 TPO
~10 TPS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2304288"/>
            <a:ext cx="274320" cy="274320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15000" y="1490472"/>
            <a:ext cx="841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A5CBF"/>
                </a:solidFill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2615184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BCCDD"/>
                </a:solidFill>
              </a:rPr>
              <a:t>~30,000 TPO
~50 TPS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95360" y="2304288"/>
            <a:ext cx="274320" cy="274320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490472"/>
            <a:ext cx="841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00B072"/>
                </a:solidFill>
              </a:rPr>
              <a:t>Phase 3 (목표)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615184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BCCDD"/>
                </a:solidFill>
              </a:rPr>
              <a:t>100K+ TPO
100 TPS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2331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99"/>
                </a:solidFill>
              </a:rPr>
              <a:t>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331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99"/>
                </a:solidFill>
              </a:rPr>
              <a:t>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2331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99"/>
                </a:solidFill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035808"/>
            <a:ext cx="3547872" cy="352044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3035808"/>
            <a:ext cx="3547872" cy="347472"/>
          </a:xfrm>
          <a:prstGeom prst="rect">
            <a:avLst/>
          </a:prstGeom>
          <a:solidFill>
            <a:srgbClr val="F58A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044952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Phase 1  —  FE 구조 정렬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74720" y="3081528"/>
            <a:ext cx="749808" cy="23774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0" y="3081528"/>
            <a:ext cx="749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58A07"/>
                </a:solidFill>
              </a:rPr>
              <a:t>4주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2" y="3438144"/>
            <a:ext cx="1591056" cy="457200"/>
          </a:xfrm>
          <a:prstGeom prst="rect">
            <a:avLst/>
          </a:prstGeom>
          <a:solidFill>
            <a:srgbClr val="06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3456432"/>
            <a:ext cx="4206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0AED6"/>
                </a:solidFill>
              </a:rPr>
              <a:t>TPO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3630168"/>
            <a:ext cx="15910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8A07"/>
                </a:solidFill>
              </a:rPr>
              <a:t>~5,000 TPO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68880" y="3438144"/>
            <a:ext cx="1591056" cy="457200"/>
          </a:xfrm>
          <a:prstGeom prst="rect">
            <a:avLst/>
          </a:prstGeom>
          <a:solidFill>
            <a:srgbClr val="06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0" y="3456432"/>
            <a:ext cx="4206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A5CBF"/>
                </a:solidFill>
              </a:rPr>
              <a:t>TPS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68880" y="3630168"/>
            <a:ext cx="15910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8A07"/>
                </a:solidFill>
              </a:rPr>
              <a:t>~10 TPS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2" y="3959352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FE → ido 단일 경로 + 보안 정비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4672" y="4297680"/>
            <a:ext cx="640080" cy="201168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4672" y="429768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F2D52"/>
                </a:solidFill>
              </a:rPr>
              <a:t>TPS 관점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" y="4526280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CCDD"/>
                </a:solidFill>
              </a:rPr>
              <a:t>• extInstance 제거 → ido 단일 경로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" y="4800600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CCDD"/>
                </a:solidFill>
              </a:rPr>
              <a:t>• 기관별 Rate Limit 활성 (AgencyRateLimiter)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" y="5074920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CCDD"/>
                </a:solidFill>
              </a:rPr>
              <a:t>• Resilience4j Circuit Breaker 보호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4672" y="5458968"/>
            <a:ext cx="640080" cy="201168"/>
          </a:xfrm>
          <a:prstGeom prst="rect">
            <a:avLst/>
          </a:prstGeom>
          <a:solidFill>
            <a:srgbClr val="F58A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" y="5458968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F2D52"/>
                </a:solidFill>
              </a:rPr>
              <a:t>TPO 관점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5687568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CCDD"/>
                </a:solidFill>
              </a:rPr>
              <a:t>• SKIP_AUTH·Mock 데이터 제거 → 실 데이터 집계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" y="5961888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CCDD"/>
                </a:solidFill>
              </a:rPr>
              <a:t>• BrokerAuditLog 전 구간 기록 시작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" y="6236208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CCDD"/>
                </a:solidFill>
              </a:rPr>
              <a:t>• 일별 처리량 추적 가능 상태 확보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80559" y="3035808"/>
            <a:ext cx="3547872" cy="352044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480559" y="3035808"/>
            <a:ext cx="3547872" cy="347472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53711" y="3044952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Phase 2  —  q-sign OIDC 표준화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223759" y="3081528"/>
            <a:ext cx="749808" cy="23774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23759" y="3081528"/>
            <a:ext cx="749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1A5CBF"/>
                </a:solidFill>
              </a:rPr>
              <a:t>5~10주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53711" y="3438144"/>
            <a:ext cx="1591056" cy="457200"/>
          </a:xfrm>
          <a:prstGeom prst="rect">
            <a:avLst/>
          </a:prstGeom>
          <a:solidFill>
            <a:srgbClr val="06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53711" y="3456432"/>
            <a:ext cx="4206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0AED6"/>
                </a:solidFill>
              </a:rPr>
              <a:t>TPO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53711" y="3630168"/>
            <a:ext cx="15910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5CBF"/>
                </a:solidFill>
              </a:rPr>
              <a:t>~30,000 TPO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17919" y="3438144"/>
            <a:ext cx="1591056" cy="457200"/>
          </a:xfrm>
          <a:prstGeom prst="rect">
            <a:avLst/>
          </a:prstGeom>
          <a:solidFill>
            <a:srgbClr val="06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17919" y="3456432"/>
            <a:ext cx="4206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A5CBF"/>
                </a:solidFill>
              </a:rPr>
              <a:t>TPS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17919" y="3630168"/>
            <a:ext cx="15910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5CBF"/>
                </a:solidFill>
              </a:rPr>
              <a:t>~50 TPS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53711" y="3959352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수평 확장 + Redis 캐싱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53711" y="4297680"/>
            <a:ext cx="640080" cy="201168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53711" y="429768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F2D52"/>
                </a:solidFill>
              </a:rPr>
              <a:t>TPS 관점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53711" y="4526280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CCDD"/>
                </a:solidFill>
              </a:rPr>
              <a:t>• ido K8s HPA: Pod 3~5개 수평 확장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53711" y="4800600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CCDD"/>
                </a:solidFill>
              </a:rPr>
              <a:t>• Redis 토큰·세션 캐싱 (DB 직접 조회 제거)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53711" y="5074920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CCDD"/>
                </a:solidFill>
              </a:rPr>
              <a:t>• q-sign OIDC 표준화 → 외부 SP 연동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53711" y="5458968"/>
            <a:ext cx="640080" cy="201168"/>
          </a:xfrm>
          <a:prstGeom prst="rect">
            <a:avLst/>
          </a:prstGeom>
          <a:solidFill>
            <a:srgbClr val="F58A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53711" y="5458968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F2D52"/>
                </a:solidFill>
              </a:rPr>
              <a:t>TPO 관점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53711" y="5687568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CCDD"/>
                </a:solidFill>
              </a:rPr>
              <a:t>• Q-IM 읽기 복제본 분리 (조회 부하 분산)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53711" y="5961888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CCDD"/>
                </a:solidFill>
              </a:rPr>
              <a:t>• Kafka 비동기 이벤트 처리 시작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53711" y="6236208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CCDD"/>
                </a:solidFill>
              </a:rPr>
              <a:t>• 기관 수 확장에 따른 TPO 자연 증가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598" y="3035808"/>
            <a:ext cx="3547872" cy="352044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229598" y="3035808"/>
            <a:ext cx="3547872" cy="347472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02750" y="3044952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Phase 3  —  운영 전환 &amp; 확장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972798" y="3081528"/>
            <a:ext cx="749808" cy="23774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972798" y="3081528"/>
            <a:ext cx="749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B072"/>
                </a:solidFill>
              </a:rPr>
              <a:t>11~16주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02750" y="3438144"/>
            <a:ext cx="1591056" cy="457200"/>
          </a:xfrm>
          <a:prstGeom prst="rect">
            <a:avLst/>
          </a:prstGeom>
          <a:solidFill>
            <a:srgbClr val="06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302750" y="3456432"/>
            <a:ext cx="4206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0AED6"/>
                </a:solidFill>
              </a:rPr>
              <a:t>TPO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02750" y="3630168"/>
            <a:ext cx="15910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B072"/>
                </a:solidFill>
              </a:rPr>
              <a:t>100K+ TPO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966958" y="3438144"/>
            <a:ext cx="1591056" cy="457200"/>
          </a:xfrm>
          <a:prstGeom prst="rect">
            <a:avLst/>
          </a:prstGeom>
          <a:solidFill>
            <a:srgbClr val="06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966958" y="3456432"/>
            <a:ext cx="4206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A5CBF"/>
                </a:solidFill>
              </a:rPr>
              <a:t>TPS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966958" y="3630168"/>
            <a:ext cx="15910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B072"/>
                </a:solidFill>
              </a:rPr>
              <a:t>100 TPS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02750" y="3959352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Kafka EDA + HPA 완전 자동화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302750" y="4297680"/>
            <a:ext cx="640080" cy="201168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02750" y="429768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F2D52"/>
                </a:solidFill>
              </a:rPr>
              <a:t>TPS 관점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302750" y="4526280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CCDD"/>
                </a:solidFill>
              </a:rPr>
              <a:t>• Kafka EDA 비동기 → 순간 부하 흡수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302750" y="4800600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CCDD"/>
                </a:solidFill>
              </a:rPr>
              <a:t>• HPA 자동 Pod 증가 (피크 5× 버스트)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02750" y="5074920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CCDD"/>
                </a:solidFill>
              </a:rPr>
              <a:t>• k6 100 TPS 부하 테스트 검증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302750" y="5458968"/>
            <a:ext cx="640080" cy="201168"/>
          </a:xfrm>
          <a:prstGeom prst="rect">
            <a:avLst/>
          </a:prstGeom>
          <a:solidFill>
            <a:srgbClr val="F58A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302750" y="5458968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F2D52"/>
                </a:solidFill>
              </a:rPr>
              <a:t>TPO 관점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02750" y="5687568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CCDD"/>
                </a:solidFill>
              </a:rPr>
              <a:t>• 100,000 ~ 200,000 TPO/day 달성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302750" y="5961888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CCDD"/>
                </a:solidFill>
              </a:rPr>
              <a:t>• 기관별 SLA 모니터링 (Grafana 대시보드)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02750" y="6236208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CCDD"/>
                </a:solidFill>
              </a:rPr>
              <a:t>• k6 stress: 100K TPO 연속 24h 검증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31520" y="6601968"/>
            <a:ext cx="10698480" cy="201168"/>
          </a:xfrm>
          <a:prstGeom prst="rect">
            <a:avLst/>
          </a:prstGeom>
          <a:solidFill>
            <a:srgbClr val="0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2960" y="6611112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ED6"/>
                </a:solidFill>
              </a:rPr>
              <a:t>TPO = 하루 전체 규모 (DB·배치·감사 설계 기준)   TPS = 순간 처리 능력 (Pod·CPU·네트워크 설계 기준)   두 지표를 함께 관리해야 안정적 100K 달성 가능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072"/>
                </a:solidFill>
              </a:rPr>
              <a:t>03  목표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integration-sso — 100k TPO를 위한 아키텍처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698480" cy="45720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713232"/>
          </a:xfrm>
          <a:prstGeom prst="rect">
            <a:avLst/>
          </a:prstGeom>
          <a:solidFill>
            <a:srgbClr val="063A5C"/>
          </a:solidFill>
          <a:ln w="15240">
            <a:solidFill>
              <a:srgbClr val="00A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1005840" cy="713232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05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472184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브라우저 / onepass-fe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178308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88899"/>
                </a:solidFill>
              </a:rPr>
              <a:t>단일 인스턴스 → /api/v1/** → ido BFF  |  extInstance 없음 (목표)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12848"/>
            <a:ext cx="10698480" cy="804672"/>
          </a:xfrm>
          <a:prstGeom prst="rect">
            <a:avLst/>
          </a:prstGeom>
          <a:solidFill>
            <a:srgbClr val="06284A"/>
          </a:solidFill>
          <a:ln w="15240">
            <a:solidFill>
              <a:srgbClr val="1A5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212848"/>
            <a:ext cx="1005840" cy="804672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212848"/>
            <a:ext cx="10058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SCALE-OUT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267712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ido  —  정책 오케스트레이터 + FE BFF  (수평 확장 가능)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67004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88899"/>
                </a:solidFill>
              </a:rPr>
              <a:t>Handoff·Auth·SLO·Rate Limit·Circuit Breaker·Audit Log · K8s HPA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090672"/>
            <a:ext cx="10698480" cy="713232"/>
          </a:xfrm>
          <a:prstGeom prst="rect">
            <a:avLst/>
          </a:prstGeom>
          <a:solidFill>
            <a:srgbClr val="0A1E38"/>
          </a:solidFill>
          <a:ln w="15240">
            <a:solidFill>
              <a:srgbClr val="00A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090672"/>
            <a:ext cx="1005840" cy="713232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090672"/>
            <a:ext cx="1005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EDA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145536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Kafka  —  비동기 이벤트 버스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45643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88899"/>
                </a:solidFill>
              </a:rPr>
              <a:t>qsign.auth.events  |  qim.user.events  |  Outbox 패턴 (At-least-once)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858768"/>
            <a:ext cx="10698480" cy="804672"/>
          </a:xfrm>
          <a:prstGeom prst="rect">
            <a:avLst/>
          </a:prstGeom>
          <a:solidFill>
            <a:srgbClr val="06284A"/>
          </a:solidFill>
          <a:ln w="15240">
            <a:solidFill>
              <a:srgbClr val="00B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3858768"/>
            <a:ext cx="1005840" cy="804672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58768"/>
            <a:ext cx="10058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3913632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Q-Sign  (인증 SoR)                      Q-IM  (식별 SoR)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31596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88899"/>
                </a:solidFill>
              </a:rPr>
              <a:t>OIDC 브로커·PKCE·JWT                    qimUserId·CI AES-256-GCM·DI HMAC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736592"/>
            <a:ext cx="10698480" cy="658368"/>
          </a:xfrm>
          <a:prstGeom prst="rect">
            <a:avLst/>
          </a:prstGeom>
          <a:solidFill>
            <a:srgbClr val="0A1E38"/>
          </a:solidFill>
          <a:ln w="15240">
            <a:solidFill>
              <a:srgbClr val="888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4736592"/>
            <a:ext cx="1005840" cy="658368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736592"/>
            <a:ext cx="1005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INFRA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4791456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인프라:  Redis Cluster  |  PostgreSQL  |  MariaDB  |  K8s Secrets/ConfigMap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04748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88899"/>
                </a:solidFill>
              </a:rPr>
              <a:t>Prometheus · Grafana · Loki · OTel AOP 계측  |  Flyway 마이그레이션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0" y="214884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99"/>
                </a:solidFill>
              </a:rPr>
              <a:t>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301752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99"/>
                </a:solidFill>
              </a:rPr>
              <a:t>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379476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99"/>
                </a:solidFill>
              </a:rPr>
              <a:t>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60" y="466344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99"/>
                </a:solidFill>
              </a:rPr>
              <a:t>▼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5486400"/>
            <a:ext cx="10698480" cy="658368"/>
          </a:xfrm>
          <a:prstGeom prst="rect">
            <a:avLst/>
          </a:prstGeom>
          <a:solidFill>
            <a:srgbClr val="04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486400"/>
            <a:ext cx="1005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88899"/>
                </a:solidFill>
              </a:rPr>
              <a:t>외부 연동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555955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CC"/>
                </a:solidFill>
              </a:rPr>
              <a:t>• NICE IDO (휴대폰 인증)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86200" y="555955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CC"/>
                </a:solidFill>
              </a:rPr>
              <a:t>• OACX SDK (간편서명)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555955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CC"/>
                </a:solidFill>
              </a:rPr>
              <a:t>• Keycloak (소셜 IdP 브로커)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1000" y="555955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CC"/>
                </a:solidFill>
              </a:rPr>
              <a:t>• NHN Cloud SKM (키 관리)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0" y="555955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CC"/>
                </a:solidFill>
              </a:rPr>
              <a:t>• agency-stub (유관기관 E2E)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61120" y="2267712"/>
            <a:ext cx="2377440" cy="347472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06840" y="2286000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→ K8s HPA: Pod 자동 증가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ED6"/>
                </a:solidFill>
              </a:rPr>
              <a:t>04 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시연 프로젝트  vs  integration-sso 목표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698480" cy="45720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1155680" cy="384048"/>
          </a:xfrm>
          <a:prstGeom prst="rect">
            <a:avLst/>
          </a:prstGeom>
          <a:solidFill>
            <a:srgbClr val="0F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3560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D6"/>
                </a:solidFill>
              </a:rPr>
              <a:t>검토 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435608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D6"/>
                </a:solidFill>
              </a:rPr>
              <a:t>시연 프로젝트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143560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D6"/>
                </a:solidFill>
              </a:rPr>
              <a:t>integration-sso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1435608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D6"/>
                </a:solidFill>
              </a:rPr>
              <a:t>상태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828800"/>
            <a:ext cx="11155680" cy="466344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874520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FE → 백엔드 경로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1856232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AA88"/>
                </a:solidFill>
              </a:rPr>
              <a:t>이중 경로
(ido + Q-IM 직접)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856232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단일 경로
(ido BFF만)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1920240"/>
            <a:ext cx="14630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72638"/>
                </a:solidFill>
              </a:rPr>
              <a:t>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295144"/>
            <a:ext cx="11155680" cy="466344"/>
          </a:xfrm>
          <a:prstGeom prst="rect">
            <a:avLst/>
          </a:prstGeom>
          <a:solidFill>
            <a:srgbClr val="091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340864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인증 우회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322576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AA88"/>
                </a:solidFill>
              </a:rPr>
              <a:t>SKIP_AUTH=true
활성 상태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322576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제거 완료
(운영 동일 코드)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2386584"/>
            <a:ext cx="14630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72638"/>
                </a:solidFill>
              </a:rPr>
              <a:t>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2761488"/>
            <a:ext cx="11155680" cy="466344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807208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암호화 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2788920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AA88"/>
                </a:solidFill>
              </a:rPr>
              <a:t>AES_GCM_KEY
.env 평문 번들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7889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서버사이드
Vault/KMS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852928"/>
            <a:ext cx="14630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72638"/>
                </a:solidFill>
              </a:rPr>
              <a:t>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3227832"/>
            <a:ext cx="11155680" cy="466344"/>
          </a:xfrm>
          <a:prstGeom prst="rect">
            <a:avLst/>
          </a:prstGeom>
          <a:solidFill>
            <a:srgbClr val="091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273552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OIDC 브로커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255264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AA88"/>
                </a:solidFill>
              </a:rPr>
              <a:t>Keycloak 위임
표준 엔드포인트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3255264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q-sign이 표준 OP
/.well-known 포함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3319272"/>
            <a:ext cx="14630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72638"/>
                </a:solidFill>
              </a:rPr>
              <a:t>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3694176"/>
            <a:ext cx="11155680" cy="466344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3739896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수평 확장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3721608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AA88"/>
                </a:solidFill>
              </a:rPr>
              <a:t>Q-IM 단층
확장 불가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3721608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ido K8s HPA
Stateless 설계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3785616"/>
            <a:ext cx="14630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72638"/>
                </a:solidFill>
              </a:rPr>
              <a:t>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4160520"/>
            <a:ext cx="11155680" cy="466344"/>
          </a:xfrm>
          <a:prstGeom prst="rect">
            <a:avLst/>
          </a:prstGeom>
          <a:solidFill>
            <a:srgbClr val="091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206240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장애 격리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0" y="4187952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AA88"/>
                </a:solidFill>
              </a:rPr>
              <a:t>Circuit Breaker
미적용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0" y="4187952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Resilience4j CB
기관별 격리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7040" y="4251960"/>
            <a:ext cx="14630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72638"/>
                </a:solidFill>
              </a:rPr>
              <a:t>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" y="4626864"/>
            <a:ext cx="11155680" cy="466344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4672584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Rate Limiting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0" y="4654296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AA88"/>
                </a:solidFill>
              </a:rPr>
              <a:t>기관별 제어 없음
폭주 시 Q-IM 붕괴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0880" y="4654296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AgencyRateLimiter
기관별 TPS 제어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07040" y="4718304"/>
            <a:ext cx="14630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72638"/>
                </a:solidFill>
              </a:rPr>
              <a:t>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5093208"/>
            <a:ext cx="11155680" cy="466344"/>
          </a:xfrm>
          <a:prstGeom prst="rect">
            <a:avLst/>
          </a:prstGeom>
          <a:solidFill>
            <a:srgbClr val="091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5138928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비동기 처리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0" y="5120640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AA88"/>
                </a:solidFill>
              </a:rPr>
              <a:t>동기 직접 호출
Q-IM 응답 대기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0880" y="512064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Kafka EDA
Outbox 패턴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07040" y="5184648"/>
            <a:ext cx="14630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72638"/>
                </a:solidFill>
              </a:rPr>
              <a:t>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5559552"/>
            <a:ext cx="11155680" cy="466344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605272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감사 로그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400" y="5586984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AA88"/>
                </a:solidFill>
              </a:rPr>
              <a:t>Q-IM 직접 구간
추적 불가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40880" y="5586984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BrokerAuditLog
전 구간 기록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07040" y="5650992"/>
            <a:ext cx="14630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72638"/>
                </a:solidFill>
              </a:rPr>
              <a:t>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1520" y="6025896"/>
            <a:ext cx="11155680" cy="466344"/>
          </a:xfrm>
          <a:prstGeom prst="rect">
            <a:avLst/>
          </a:prstGeom>
          <a:solidFill>
            <a:srgbClr val="091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1520" y="6071616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임시 비밀번호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00400" y="6053328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AA88"/>
                </a:solidFill>
              </a:rPr>
              <a:t>Math.random()
FE 클라이언트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40880" y="6053328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SecureRandom
BE API 발급 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607040" y="6117336"/>
            <a:ext cx="14630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8A07"/>
                </a:solidFill>
              </a:rPr>
              <a:t>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6492240"/>
            <a:ext cx="11155680" cy="466344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1520" y="6537960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CI 보안(Q3=B)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00400" y="6519672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AA88"/>
                </a:solidFill>
              </a:rPr>
              <a:t>FE에서 CI 암호화
직접 Q-IM 전송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40880" y="6519672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CI FE 미반환
BE 내부 처리 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607040" y="6583680"/>
            <a:ext cx="14630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8A07"/>
                </a:solidFill>
              </a:rPr>
              <a:t>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58A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8A07"/>
                </a:solidFill>
              </a:rPr>
              <a:t>05  전환 근거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왜 지금 방향을 바꿔야 하는가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698480" cy="45720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44752"/>
            <a:ext cx="5120640" cy="3200400"/>
          </a:xfrm>
          <a:prstGeom prst="rect">
            <a:avLst/>
          </a:prstGeom>
          <a:solidFill>
            <a:srgbClr val="0A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8A07"/>
                </a:solidFill>
              </a:rPr>
              <a:t>시간 경과에 따른 재작업 비용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8A07"/>
                </a:solidFill>
              </a:rPr>
              <a:t>  재                     시연 방식 계속  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AACC"/>
                </a:solidFill>
              </a:rPr>
              <a:t>  작                                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24912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AACC"/>
                </a:solidFill>
              </a:rPr>
              <a:t>  업                            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27248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B072"/>
                </a:solidFill>
              </a:rPr>
              <a:t>  비       전환 비용 ●        ╱  ← 기하급수 증가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29584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AACC"/>
                </a:solidFill>
              </a:rPr>
              <a:t>  용              ▔▔▔▔▔▔▔▔▔▔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3192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AACC"/>
                </a:solidFill>
              </a:rPr>
              <a:t>       지금   3개월후   6개월후   운영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736592"/>
            <a:ext cx="5120640" cy="182880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7316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72638"/>
                </a:solidFill>
              </a:rPr>
              <a:t>지금 전환하지 않으면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166360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AA88"/>
                </a:solidFill>
              </a:rPr>
              <a:t>→ 각 팀이 다른 방향으로 더 깊이 개발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495544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AA88"/>
                </a:solidFill>
              </a:rPr>
              <a:t>→ 3개월 후 코드 충돌·통합 비용 폭증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24728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AA88"/>
                </a:solidFill>
              </a:rPr>
              <a:t>→ 운영 전환 시 사실상 전면 재개발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153912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AA88"/>
                </a:solidFill>
              </a:rPr>
              <a:t>→ 보안 우회 코드가 운영 환경에 진입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1444752"/>
            <a:ext cx="5577840" cy="1627632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35040" y="1444752"/>
            <a:ext cx="109728" cy="1627632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153619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AED6"/>
                </a:solidFill>
              </a:rPr>
              <a:t>설계 원칙 충돌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01952"/>
            <a:ext cx="5303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DD"/>
                </a:solidFill>
              </a:rPr>
              <a:t>현재 구조는 ADR-001(IdO 완전 중재 패턴)과
정면 충돌합니다. FE가 Q-IM을 직접 호출하는
구조는 보안 정책·감사·Rate Limit을 집행할
단일 지점 자체가 없습니다.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3182112"/>
            <a:ext cx="5577840" cy="1627632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35040" y="3182112"/>
            <a:ext cx="109728" cy="1627632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327355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072"/>
                </a:solidFill>
              </a:rPr>
              <a:t>재사용 가능한 기반 이미 존재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3639312"/>
            <a:ext cx="5303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DD"/>
                </a:solidFill>
              </a:rPr>
              <a:t>integration-sso BE는 이미 93% 완성.
빌드 성공, 397개 테스트 통과 상태.
지금 기준점을 잡으면 추가 Sprint만으로
운영 전환이 가능합니다.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4919472"/>
            <a:ext cx="5577840" cy="1627632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35040" y="4919472"/>
            <a:ext cx="109728" cy="1627632"/>
          </a:xfrm>
          <a:prstGeom prst="rect">
            <a:avLst/>
          </a:prstGeom>
          <a:solidFill>
            <a:srgbClr val="F58A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501091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8A07"/>
                </a:solidFill>
              </a:rPr>
              <a:t>확장 한계는 구조에서 결정됨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5376672"/>
            <a:ext cx="5303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DD"/>
                </a:solidFill>
              </a:rPr>
              <a:t>성능은 코드 최적화로 개선하지만,
확장성은 설계에서 결정됩니다.
단층 Q-IM 직접 호출 구조는 아무리
튜닝해도 TPO 상한이 존재합니다.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072"/>
                </a:solidFill>
              </a:rPr>
              <a:t>06 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3단계 전환 로드맵 — 팀별 역할 포함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698480" cy="45720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44752"/>
            <a:ext cx="3547872" cy="516636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3547872" cy="749808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44752"/>
            <a:ext cx="3547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Phase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5478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FE 구조 정렬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00200" y="2249424"/>
            <a:ext cx="1810512" cy="274320"/>
          </a:xfrm>
          <a:prstGeom prst="rect">
            <a:avLst/>
          </a:prstGeom>
          <a:solidFill>
            <a:srgbClr val="05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2267712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5CBF"/>
                </a:solidFill>
              </a:rPr>
              <a:t>⏱  착수 후 4주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0604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목표: FE → ido 단일 경로 전환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99232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extInstance 26개 API → ido BFF 경유로 전환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832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SKIP_AUTH 스위치 완전 제거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6732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AES_GCM_KEY FE 노출 제거 → Q3=B 원칙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151376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Math.random() → GET /api/v1/auth/provision/temp-password 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535424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Mock 데이터 INITIAL_DATA 완전 제거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285232"/>
            <a:ext cx="3547872" cy="320040"/>
          </a:xfrm>
          <a:prstGeom prst="rect">
            <a:avLst/>
          </a:prstGeom>
          <a:solidFill>
            <a:srgbClr val="041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303520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팀: FE팀 주도  /  BE팀 API 지원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623560"/>
            <a:ext cx="3547872" cy="384048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641848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✓  FE 단일 경로 달성 · 보안 우회 코드 Zero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59" y="1444752"/>
            <a:ext cx="3547872" cy="516636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59" y="1444752"/>
            <a:ext cx="3547872" cy="749808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59" y="1444752"/>
            <a:ext cx="3547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Phase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59" y="1783080"/>
            <a:ext cx="35478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q-sign OIDC 표준화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49239" y="2249424"/>
            <a:ext cx="1810512" cy="274320"/>
          </a:xfrm>
          <a:prstGeom prst="rect">
            <a:avLst/>
          </a:prstGeom>
          <a:solidFill>
            <a:srgbClr val="05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49239" y="2267712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AED6"/>
                </a:solidFill>
              </a:rPr>
              <a:t>⏱  5~10주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1999" y="260604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목표: q-sign이 표준 OIDC Provider 역할 수행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1999" y="2999232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/.well-known/openid-configuration 구현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1999" y="33832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/authorize · /token · /userinfo · /jwks 엔드포인트 구현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1999" y="376732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strict-mode=true 활성 (내부 서명 검증 강화)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1999" y="4151376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외부 서비스(SP)가 q-sign을 OIDC OP로 직접 연동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1999" y="4535424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기업인증 진위확인 정식 API 연동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59" y="5285232"/>
            <a:ext cx="3547872" cy="320040"/>
          </a:xfrm>
          <a:prstGeom prst="rect">
            <a:avLst/>
          </a:prstGeom>
          <a:solidFill>
            <a:srgbClr val="041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1999" y="5303520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팀: BE팀(q-sign) 주도  /  ido 연동 지원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80559" y="5623560"/>
            <a:ext cx="3547872" cy="384048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1999" y="5641848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✓  표준 OIDC 브로커 완성 · 외부 SP 연동 가능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598" y="1444752"/>
            <a:ext cx="3547872" cy="516636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29598" y="1444752"/>
            <a:ext cx="3547872" cy="749808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598" y="1444752"/>
            <a:ext cx="3547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Phase 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598" y="1783080"/>
            <a:ext cx="35478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운영 전환 &amp; 확장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98278" y="2249424"/>
            <a:ext cx="1810512" cy="274320"/>
          </a:xfrm>
          <a:prstGeom prst="rect">
            <a:avLst/>
          </a:prstGeom>
          <a:solidFill>
            <a:srgbClr val="05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98278" y="2267712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B072"/>
                </a:solidFill>
              </a:rPr>
              <a:t>⏱  11~16주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38" y="260604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목표: K8s 배포 · 모니터링 · TPO 10k → 100k 확장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38" y="2999232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K8s HPA 자동 확장 설정 (ido Pod 3→N개)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38" y="33832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Kafka EDA 비동기 처리 전환 (동기 → 이벤트)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38" y="376732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Q-IM 읽기 복제본 분리 (조회 부하 분산)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38" y="4151376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Grafana SLO 대시보드 운영 모니터링 연결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38" y="4535424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k6 부하 테스트 100k TPO 달성 검증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598" y="5285232"/>
            <a:ext cx="3547872" cy="320040"/>
          </a:xfrm>
          <a:prstGeom prst="rect">
            <a:avLst/>
          </a:prstGeom>
          <a:solidFill>
            <a:srgbClr val="041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21038" y="5303520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팀: 인프라팀 주도  /  전 팀 협업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598" y="5623560"/>
            <a:ext cx="3547872" cy="384048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21038" y="5641848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✓  운영 배포 완료 · TPO 100k 목표 달성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1520" y="6080760"/>
            <a:ext cx="10698480" cy="73152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14800" y="603504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99"/>
                </a:solidFill>
              </a:rPr>
              <a:t>▶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63839" y="603504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99"/>
                </a:solidFill>
              </a:rPr>
              <a:t>▶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612878" y="603504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99"/>
                </a:solidFill>
              </a:rPr>
              <a:t>▶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614476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072"/>
                </a:solidFill>
              </a:rPr>
              <a:t>착수 (5월 13일)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23360" y="614476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→ 4주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26679" y="614476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→ 10주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75520" y="614476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072"/>
                </a:solidFill>
              </a:rPr>
              <a:t>TPO 100k 달성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10769320396800" cy="109728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결론 및 요청사항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0698480" cy="146304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9728" cy="1463040"/>
          </a:xfrm>
          <a:prstGeom prst="rect">
            <a:avLst/>
          </a:prstGeom>
          <a:solidFill>
            <a:srgbClr val="D7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D72638"/>
                </a:solidFill>
              </a:rPr>
              <a:t>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280160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72638"/>
                </a:solidFill>
              </a:rPr>
              <a:t>시연 프로젝트의 가장 큰 문제는 '미완성'이 아닙니다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719072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</a:rPr>
              <a:t>Q-IM 직접 호출 구조와 단층 아키텍처는 운영 전환과 TPO 확장이
구조적으로 불가능합니다. 코드를 고쳐서 해결할 수 있는 문제가 아닙니다.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761488"/>
            <a:ext cx="10698480" cy="146304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761488"/>
            <a:ext cx="109728" cy="1463040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52928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0AED6"/>
                </a:solidFill>
              </a:rPr>
              <a:t>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852928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AED6"/>
                </a:solidFill>
              </a:rPr>
              <a:t>integration-sso는 그 답을 이미 설계해 두었습니다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29184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</a:rPr>
              <a:t>ido BFF 수평 확장 · Kafka EDA · Resilience4j CB · K8s HPA
→ 100K TPO / 100 TPS 달성을 위한 구성 요소 93% 구현 완료 상태입니다.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334256"/>
            <a:ext cx="10698480" cy="146304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334256"/>
            <a:ext cx="109728" cy="1463040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425696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0B072"/>
                </a:solidFill>
              </a:rPr>
              <a:t>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42569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072"/>
                </a:solidFill>
              </a:rPr>
              <a:t>지금이 방향을 잡기 가장 좋은 시점입니다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864608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</a:rPr>
              <a:t>각 팀이 서로 다른 방향으로 더 깊이 들어가기 전에,
오늘 회의에서 방향을 정렬하면 전환 비용을 최소화할 수 있습니다.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870448"/>
            <a:ext cx="10698480" cy="713232"/>
          </a:xfrm>
          <a:prstGeom prst="rect">
            <a:avLst/>
          </a:prstGeom>
          <a:solidFill>
            <a:srgbClr val="00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5870448"/>
            <a:ext cx="10698480" cy="54864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94360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D6"/>
                </a:solidFill>
              </a:rPr>
              <a:t>오늘 회의에서 결정해 주실 사항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629107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① integration-sso를 정식 개발 기준으로 채택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629107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② 각 팀 5월 13일부터 Phase 1 착수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629107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③ 팀별 역할 분담 확정 (FE팀 / BE팀 / 인프라팀)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072"/>
                </a:solidFill>
              </a:rPr>
              <a:t>07  영향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전환해도 여러분이 만든 코드는 그대로입니다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698480" cy="45720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658368"/>
          </a:xfrm>
          <a:prstGeom prst="rect">
            <a:avLst/>
          </a:prstGeom>
          <a:solidFill>
            <a:srgbClr val="00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109728" cy="658368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490472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072"/>
                </a:solidFill>
              </a:rPr>
              <a:t>이번 전환은 각 팀이 만든 비즈니스 로직에 손대지 않습니다.  연결 방식만 바꿉니다.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76272"/>
            <a:ext cx="3547872" cy="434340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176272"/>
            <a:ext cx="3547872" cy="621792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17627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FE 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63240" y="2221992"/>
            <a:ext cx="1170432" cy="25603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63240" y="2221992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AED6"/>
                </a:solidFill>
              </a:rPr>
              <a:t>변경 최소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21284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87121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072"/>
                </a:solidFill>
              </a:rPr>
              <a:t>✅ 그대로 유지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163824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  화면 UI / UX 컴포넌트 전체 유지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65576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  비즈니스 로직 (Step1 ~ Step6) 그대로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67328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  API 파라미터·응답 형식 동일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69080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  26개 API 시그니처 Q-IM이 그대로 유지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407408"/>
            <a:ext cx="3364992" cy="27432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48056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8A07"/>
                </a:solidFill>
              </a:rPr>
              <a:t>🔧 변경되는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809744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CC88"/>
                </a:solidFill>
              </a:rPr>
              <a:t>extInstance.ts  baseURL 1줄 변경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9977"/>
                </a:solidFill>
              </a:rPr>
              <a:t>  Q-IM 직접 → ido 경유 (같은 경로명)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413248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CC88"/>
                </a:solidFill>
              </a:rPr>
              <a:t>SKIP_AUTH / AES_GCM_KEY 환경변수 제거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715000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CC88"/>
                </a:solidFill>
              </a:rPr>
              <a:t>Math.random() → BE API 1회 호출로 교체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59" y="2176272"/>
            <a:ext cx="3547872" cy="434340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80559" y="2176272"/>
            <a:ext cx="3547872" cy="621792"/>
          </a:xfrm>
          <a:prstGeom prst="rect">
            <a:avLst/>
          </a:prstGeom>
          <a:solidFill>
            <a:srgbClr val="F58A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59" y="217627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Q-IM 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79" y="2221992"/>
            <a:ext cx="1170432" cy="25603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79" y="2221992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58A07"/>
                </a:solidFill>
              </a:rPr>
              <a:t>변경 없음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79" y="221284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1999" y="287121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072"/>
                </a:solidFill>
              </a:rPr>
              <a:t>✅ 그대로 유지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1999" y="3163824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  Q-IM 내부 로직 코드 변경 없음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1999" y="3465576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  API 엔드포인트 전체 유지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1999" y="3767328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  DB 스키마·데이터 모델 그대로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1999" y="4069080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  기존 인증·회원·프로비저닝 로직 보존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1999" y="4407408"/>
            <a:ext cx="3364992" cy="27432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1999" y="448056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8A07"/>
                </a:solidFill>
              </a:rPr>
              <a:t>🔧 변경되는 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1999" y="4809744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CC88"/>
                </a:solidFill>
              </a:rPr>
              <a:t>호출자가 FE → ido로 바뀜 (내부 변경 없음)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1999" y="5111496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CC88"/>
                </a:solidFill>
              </a:rPr>
              <a:t>관리자 기능: ido Admin API가 흡수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1999" y="5413248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9977"/>
                </a:solidFill>
              </a:rPr>
              <a:t>  (Q-IM 관리자 UI → ido 관리자 UI로 이동)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1999" y="5715000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CC88"/>
                </a:solidFill>
              </a:rPr>
              <a:t>신규 개발 없음 — 검토·확인 작업만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598" y="2176272"/>
            <a:ext cx="3547872" cy="434340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9598" y="2176272"/>
            <a:ext cx="3547872" cy="621792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598" y="217627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ido / BE 팀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561318" y="2221992"/>
            <a:ext cx="1170432" cy="25603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61318" y="2221992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5CBF"/>
                </a:solidFill>
              </a:rPr>
              <a:t>소규모 추가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75318" y="221284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38" y="287121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072"/>
                </a:solidFill>
              </a:rPr>
              <a:t>✅ 그대로 유지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38" y="3163824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  기존 7개 Auth API 구현 그대로 유지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38" y="3465576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  Kafka·Outbox 패턴 이미 구현 완료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38" y="3767328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  AgencyAdminController 9개 API 완성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38" y="4069080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  QimSpReceiverController proxy 완성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21038" y="4407408"/>
            <a:ext cx="3364992" cy="27432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21038" y="448056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8A07"/>
                </a:solidFill>
              </a:rPr>
              <a:t>🔧 변경되는 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38" y="4809744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CC88"/>
                </a:solidFill>
              </a:rPr>
              <a:t>/api/ext/** → Q-IM forward proxy 라우팅 추가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1038" y="5111496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9977"/>
                </a:solidFill>
              </a:rPr>
              <a:t>  (QimSpReceiverController 패턴 재사용)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38" y="5413248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CC88"/>
                </a:solidFill>
              </a:rPr>
              <a:t>extInstance 26개 API forward 설정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1038" y="5715000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CC88"/>
                </a:solidFill>
              </a:rPr>
              <a:t>인프라팀과 webpack proxy 경로 합의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solidFill>
            <a:srgbClr val="00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" y="6519672"/>
            <a:ext cx="10607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B072"/>
                </a:solidFill>
              </a:rPr>
              <a:t>코드 재사용률 약 95%  |  각 팀 순 추가 개발량: FE ~3일  ·  Q-IM ~0일  ·  ido/BE ~5일  ·  인프라 ~1일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ED6"/>
                </a:solidFill>
              </a:rPr>
              <a:t>08  전환 비용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이미 만들어진 것을 연결만 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698480" cy="45720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44752"/>
            <a:ext cx="5212080" cy="5120640"/>
          </a:xfrm>
          <a:prstGeom prst="rect">
            <a:avLst/>
          </a:prstGeom>
          <a:solidFill>
            <a:srgbClr val="0A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5212080" cy="384048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51755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</a:rPr>
              <a:t>Q-IM 관리자 → ido 관리자로 흡수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0195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AED6"/>
                </a:solidFill>
              </a:rPr>
              <a:t>ido AgencyAdminController — 이미 구현 완료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286000"/>
            <a:ext cx="457200" cy="256032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8600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228600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CCFF"/>
                </a:solidFill>
              </a:rPr>
              <a:t>/api/v1/admin/agencies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28600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기관 등록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606040"/>
            <a:ext cx="457200" cy="256032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60604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260604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CCFF"/>
                </a:solidFill>
              </a:rPr>
              <a:t>/api/v1/admin/agencies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60604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기관 목록 조회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926080"/>
            <a:ext cx="457200" cy="256032"/>
          </a:xfrm>
          <a:prstGeom prst="rect">
            <a:avLst/>
          </a:prstGeom>
          <a:solidFill>
            <a:srgbClr val="F58A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29260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53312" y="292608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CCFF"/>
                </a:solidFill>
              </a:rPr>
              <a:t>/api/v1/admin/agencies/{code}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292608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기관 정보 수정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46120"/>
            <a:ext cx="457200" cy="256032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24612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3312" y="324612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CCFF"/>
                </a:solidFill>
              </a:rPr>
              <a:t>/api/v1/admin/agencies/{code}/activate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324612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기관 활성화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3566160"/>
            <a:ext cx="457200" cy="256032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35661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53312" y="356616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CCFF"/>
                </a:solidFill>
              </a:rPr>
              <a:t>/api/v1/admin/agencies/{code}/deactivate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56616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기관 비활성화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3886200"/>
            <a:ext cx="457200" cy="256032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88620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388620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CCFF"/>
                </a:solidFill>
              </a:rPr>
              <a:t>/api/v1/admin/agencies/{code}/rotate-key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388620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API 키 로테이션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206240"/>
            <a:ext cx="457200" cy="256032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420624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3312" y="420624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CCFF"/>
                </a:solidFill>
              </a:rPr>
              <a:t>/api/v1/admin/agencies/{code}/history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420624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변경 이력 조회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4526280"/>
            <a:ext cx="457200" cy="256032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45262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53312" y="452628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CCFF"/>
                </a:solidFill>
              </a:rPr>
              <a:t>/api/v1/admin/agencies/{code}/stats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0" y="452628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통계 조회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4983480"/>
            <a:ext cx="5120640" cy="1389888"/>
          </a:xfrm>
          <a:prstGeom prst="rect">
            <a:avLst/>
          </a:prstGeom>
          <a:solidFill>
            <a:srgbClr val="00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502920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D6"/>
                </a:solidFill>
              </a:rPr>
              <a:t>Q-IM 관리자 기능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358384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8FFCC"/>
                </a:solidFill>
              </a:rPr>
              <a:t>기관 등록·수정·활성화·API 키 관리 등 핵심 관리 기능이
ido AgencyAdminController에 이미 구현되어 있습니다.
Q-IM 관리자 UI를 ido 관리자 화면에서 동일하게 제공할 수 있어
Q-IM 관리자 페이지는 ido로 자연스럽게 흡수됩니다.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26480" y="1444752"/>
            <a:ext cx="5303520" cy="5120640"/>
          </a:xfrm>
          <a:prstGeom prst="rect">
            <a:avLst/>
          </a:prstGeom>
          <a:solidFill>
            <a:srgbClr val="0A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26480" y="1444752"/>
            <a:ext cx="5303520" cy="384048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44768" y="1463040"/>
            <a:ext cx="52669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API 전환 비용이 낮은 3가지 이유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1920240"/>
            <a:ext cx="5212080" cy="146304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72200" y="1920240"/>
            <a:ext cx="347472" cy="1463040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72200" y="242316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0" y="1975104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D6"/>
                </a:solidFill>
              </a:rPr>
              <a:t>FE baseURL 1줄 변경 → 26개 API 전환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2331720"/>
            <a:ext cx="4709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extInstance.ts의 baseURL 한 줄만 바꾸면
26개 Q-IM 직접 호출이 모두 ido 경유로 전환됩니다.
API 경로명·파라미터·응답 형식은 Q-IM이 그대로 유지하므로
FE 비즈니스 로직은 수정이 필요 없습니다.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83680" y="3035808"/>
            <a:ext cx="4709160" cy="310896"/>
          </a:xfrm>
          <a:prstGeom prst="rect">
            <a:avLst/>
          </a:prstGeom>
          <a:solidFill>
            <a:srgbClr val="040E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20256" y="3054096"/>
            <a:ext cx="4645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CCFF"/>
                </a:solidFill>
              </a:rPr>
              <a:t>// extInstance.ts — 변경 전
baseURL: process.env.EXT_API_ENDPOINT  // → Q-IM
// 변경 후
baseURL: process.env.BE_API_ENDPOINT   // → ido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3456432"/>
            <a:ext cx="5212080" cy="146304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172200" y="3456432"/>
            <a:ext cx="347472" cy="1463040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72200" y="3959352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0" y="3511296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072"/>
                </a:solidFill>
              </a:rPr>
              <a:t>QimSpReceiverController — proxy 패턴 이미 구현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83680" y="3867912"/>
            <a:ext cx="4709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ido에 이미 /api/qim/sp/v1/ proxy 패턴이 구현되어 있습니다.
/api/ext/** forward proxy도 동일한 패턴으로
낮은 비용에 적용 가능합니다.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0" y="4572000"/>
            <a:ext cx="4709160" cy="310896"/>
          </a:xfrm>
          <a:prstGeom prst="rect">
            <a:avLst/>
          </a:prstGeom>
          <a:solidFill>
            <a:srgbClr val="040E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20256" y="4590288"/>
            <a:ext cx="4645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CCFF"/>
                </a:solidFill>
              </a:rPr>
              <a:t>@RequestMapping("/api/qim/sp/v1")
// member/query · member/register 이미 구현
// /api/ext/** forward도 동일 패턴 적용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72200" y="4992624"/>
            <a:ext cx="5212080" cy="146304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172200" y="4992624"/>
            <a:ext cx="347472" cy="1463040"/>
          </a:xfrm>
          <a:prstGeom prst="rect">
            <a:avLst/>
          </a:prstGeom>
          <a:solidFill>
            <a:srgbClr val="F58A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72200" y="5495544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③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0" y="5047488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8A07"/>
                </a:solidFill>
              </a:rPr>
              <a:t>Kafka — ido에 이미 구현 완료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83680" y="5404104"/>
            <a:ext cx="4709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KafkaTemplate, Outbox 패턴이 ido에 이미 구현되어 있습니다.
비동기 처리 전환 시 추가 인프라 설치 없이
기존 구현을 재사용하면 됩니다.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83680" y="6108192"/>
            <a:ext cx="4709160" cy="310896"/>
          </a:xfrm>
          <a:prstGeom prst="rect">
            <a:avLst/>
          </a:prstGeom>
          <a:solidFill>
            <a:srgbClr val="040E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620256" y="6126480"/>
            <a:ext cx="4645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CCFF"/>
                </a:solidFill>
              </a:rPr>
              <a:t>// KeycloakOidcService.java — 이미 구현
private final KafkaTemplate&lt;String,Object&gt; kafkaTemplate;
// qsign.auth.events 발행 → Outbox 완성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700"/>
                </a:solidFill>
              </a:rPr>
              <a:t>09  팀별 할 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각 팀이 해야 할 일  —  Sprint 1주 이내 완료 가능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698480" cy="45720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44752"/>
            <a:ext cx="5440680" cy="2578608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5440680" cy="411480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4475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FE 팀</a:t>
            </a:r>
          </a:p>
        </p:txBody>
      </p:sp>
      <p:sp>
        <p:nvSpPr>
          <p:cNvPr id="9" name="Rectangle 8"/>
          <p:cNvSpPr/>
          <p:nvPr/>
        </p:nvSpPr>
        <p:spPr>
          <a:xfrm>
            <a:off x="4983480" y="1517904"/>
            <a:ext cx="1115568" cy="274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1517904"/>
            <a:ext cx="1115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0AED6"/>
                </a:solidFill>
              </a:rPr>
              <a:t>예상 ~3일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75104"/>
            <a:ext cx="164592" cy="164592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1920240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extInstance.ts  baseURL 환경변수 1줄 변경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2176272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EXT_API_ENDPOINT → BE_API_ENDPOINT (ido 주소)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404872"/>
            <a:ext cx="164592" cy="164592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350008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SKIP_AUTH=true 환경변수 제거 + Private.tsx 우회 코드 삭제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606040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lines 67, 109, 130 제거 — 정상 인증 흐름 활성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34640"/>
            <a:ext cx="164592" cy="164592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2779776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AES_GCM_KEY 환경변수 제거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035808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webpack DefinePlugin에서 삭제, CI 암호화는 BE 처리로 이관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264408"/>
            <a:ext cx="164592" cy="164592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3209544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Math.random() 임시비밀번호 → BE API 호출로 교체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" y="3465576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Step5.tsx:73–76  →  GET /api/v1/auth/provision/temp-password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694176"/>
            <a:ext cx="164592" cy="164592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3639312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ConversionContext MOCK_MEMBER/MOCK_BUSINESS 초기값 제거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3895344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INITIAL_DATA에서 '홍길동' 등 Mock 데이터 삭제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1444752"/>
            <a:ext cx="5440680" cy="2578608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5080" y="1444752"/>
            <a:ext cx="5440680" cy="411480"/>
          </a:xfrm>
          <a:prstGeom prst="rect">
            <a:avLst/>
          </a:prstGeom>
          <a:solidFill>
            <a:srgbClr val="F58A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144475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Q-IM 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07040" y="1517904"/>
            <a:ext cx="1115568" cy="274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07040" y="1517904"/>
            <a:ext cx="1115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58A07"/>
                </a:solidFill>
              </a:rPr>
              <a:t>예상 ~1일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46520" y="1975104"/>
            <a:ext cx="164592" cy="164592"/>
          </a:xfrm>
          <a:prstGeom prst="rect">
            <a:avLst/>
          </a:prstGeom>
          <a:solidFill>
            <a:srgbClr val="F58A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02552" y="1920240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기존 Q-IM API 엔드포인트 명세 공유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2552" y="2176272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ido proxy forward 설정 시 경로·파라미터 확인용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46520" y="2404872"/>
            <a:ext cx="164592" cy="164592"/>
          </a:xfrm>
          <a:prstGeom prst="rect">
            <a:avLst/>
          </a:prstGeom>
          <a:solidFill>
            <a:srgbClr val="F58A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02552" y="2350008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관리자 기능 이관 검토·확인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02552" y="2606040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ido AgencyAdminController 9개 API와 기존 관리자 기능 대조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46520" y="2834640"/>
            <a:ext cx="164592" cy="164592"/>
          </a:xfrm>
          <a:prstGeom prst="rect">
            <a:avLst/>
          </a:prstGeom>
          <a:solidFill>
            <a:srgbClr val="F58A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02552" y="2779776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내부 코드 변경 없음 — 검토·승인만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02552" y="3035808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Q-IM 비즈니스 로직은 그대로 유지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4160520"/>
            <a:ext cx="5440680" cy="2578608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4160520"/>
            <a:ext cx="5440680" cy="411480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41605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ido / BE 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83480" y="4233672"/>
            <a:ext cx="1115568" cy="274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83480" y="4233672"/>
            <a:ext cx="1115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A5CBF"/>
                </a:solidFill>
              </a:rPr>
              <a:t>예상 ~5일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960" y="4690872"/>
            <a:ext cx="164592" cy="164592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78992" y="4636008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/api/ext/** → Q-IM forward proxy 라우팅 추가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8992" y="4892040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QimSpReceiverController 패턴 재사용 — 신규 패턴 불필요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960" y="5120640"/>
            <a:ext cx="164592" cy="164592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78992" y="5065776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extInstance 26개 API forward 설정 구현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8992" y="5321808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경로 매핑·헤더 forwarding·X-API-Key 전달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2960" y="5550408"/>
            <a:ext cx="164592" cy="164592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78992" y="5495544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GET /api/v1/auth/provision/temp-password 엔드포인트 확인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78992" y="5751576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SecurePasswordGenerator 연결 — 이미 구현 완료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2960" y="5980176"/>
            <a:ext cx="164592" cy="164592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78992" y="5925312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FE → ido 단일 경로 E2E 통합 테스트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78992" y="6181344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extInstance 제거 후 beInstance 단일 흐름 검증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22960" y="6409944"/>
            <a:ext cx="164592" cy="164592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78992" y="6355080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AgencyAdminController API 문서화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78992" y="6611112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Q-IM 관리자 UI 연동을 위한 API 스펙 공유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55080" y="4160520"/>
            <a:ext cx="5440680" cy="2578608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355080" y="4160520"/>
            <a:ext cx="5440680" cy="41148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55080" y="41605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인프라 팀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607040" y="4233672"/>
            <a:ext cx="1115568" cy="274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607040" y="4233672"/>
            <a:ext cx="1115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888899"/>
                </a:solidFill>
              </a:rPr>
              <a:t>예상 ~1일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46520" y="4690872"/>
            <a:ext cx="164592" cy="164592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02552" y="4636008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webpack proxy 설정 변경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02552" y="4892040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/api/ext 타겟을 Q-IM → ido로 변경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46520" y="5120640"/>
            <a:ext cx="164592" cy="164592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702552" y="5065776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K8s ConfigMap 환경변수 업데이트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02552" y="5321808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EXT_API_ENDPOINT 제거, SKIP_AUTH 제거, AES_GCM_KEY 제거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46520" y="5550408"/>
            <a:ext cx="164592" cy="164592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702552" y="5495544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개발 환경 재배포 및 동작 확인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02552" y="5751576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ido Pod 재시작 후 26개 API 경로 연결 검증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1520" y="6565392"/>
            <a:ext cx="10698480" cy="219456"/>
          </a:xfrm>
          <a:prstGeom prst="rect">
            <a:avLst/>
          </a:prstGeom>
          <a:solidFill>
            <a:srgbClr val="002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77240" y="6565392"/>
            <a:ext cx="10607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B072"/>
                </a:solidFill>
              </a:rPr>
              <a:t>전체 총 개발 소요: FE 3일 + Q-IM 1일 + ido/BE 5일 + 인프라 1일  =  최대 10 person-days  |  팀 간 순차 의존성 없음 — 병렬 진행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