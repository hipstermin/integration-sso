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0" y="4754880"/>
            <a:ext cx="3502152" cy="2103120"/>
          </a:xfrm>
          <a:prstGeom prst="rect">
            <a:avLst/>
          </a:prstGeom>
          <a:solidFill>
            <a:srgbClr val="0A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4754880"/>
            <a:ext cx="3502152" cy="73152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OnePass 통합인증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AED6"/>
                </a:solidFill>
              </a:rPr>
              <a:t>100,000 TPO를 향한 설계 — 왜 지금 방향을 바꿔야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6858000" cy="4572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일시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30175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2026년 5월 13일  10:30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93008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목적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49300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정식 프로젝트 착수 방향 정렬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68496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6849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각 개발팀 및 관계자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48920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99"/>
                </a:solidFill>
              </a:rPr>
              <a:t>integration-sso  v2.3.0  |  Sprint 10 완료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53218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00B072"/>
                </a:solidFill>
              </a:rPr>
              <a:t>Build ✓  397 Tests 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D6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오늘 논의할 내용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0698480" cy="4572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63624"/>
            <a:ext cx="566928" cy="566928"/>
          </a:xfrm>
          <a:prstGeom prst="rect">
            <a:avLst/>
          </a:prstGeom>
          <a:solidFill>
            <a:srgbClr val="1A5CBF"/>
          </a:solidFill>
          <a:ln w="1905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D6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현재 상황 — 시연 프로젝트의 구조적 한계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9280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단일 장애점·확장 불가·설계 불일치를 한눈에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04872"/>
            <a:ext cx="566928" cy="566928"/>
          </a:xfrm>
          <a:prstGeom prst="rect">
            <a:avLst/>
          </a:prstGeom>
          <a:solidFill>
            <a:srgbClr val="1A5CBF"/>
          </a:solidFill>
          <a:ln w="1905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95728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D6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50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TPO 100k란 무엇인가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734056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목표 수치의 의미와 달성 조건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566928" cy="566928"/>
          </a:xfrm>
          <a:prstGeom prst="rect">
            <a:avLst/>
          </a:prstGeom>
          <a:solidFill>
            <a:srgbClr val="1A5CBF"/>
          </a:solidFill>
          <a:ln w="1905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36976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D6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9125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목표 설계 — integration-sso 아키텍처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575304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수평 확장·EDA·장애 격리가 내장된 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087368"/>
            <a:ext cx="566928" cy="566928"/>
          </a:xfrm>
          <a:prstGeom prst="rect">
            <a:avLst/>
          </a:prstGeom>
          <a:solidFill>
            <a:srgbClr val="1A5CBF"/>
          </a:solidFill>
          <a:ln w="1905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78224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D6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03250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시연 vs 목표 설계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16552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11개 항목 기준 정밀 대조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28616"/>
            <a:ext cx="566928" cy="566928"/>
          </a:xfrm>
          <a:prstGeom prst="rect">
            <a:avLst/>
          </a:prstGeom>
          <a:solidFill>
            <a:srgbClr val="1A5CBF"/>
          </a:solidFill>
          <a:ln w="1905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19472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D6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873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왜 지금 방향을 전환해야 하는가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257800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지금 결정하지 않으면 발생하는 비용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69864"/>
            <a:ext cx="566928" cy="566928"/>
          </a:xfrm>
          <a:prstGeom prst="rect">
            <a:avLst/>
          </a:prstGeom>
          <a:solidFill>
            <a:srgbClr val="1A5CBF"/>
          </a:solidFill>
          <a:ln w="1905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760720"/>
            <a:ext cx="5669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AED6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715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단계별 전환 로드맵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609904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99"/>
                </a:solidFill>
              </a:rPr>
              <a:t>3단계 착수 계획 및 팀별 역할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2638"/>
                </a:solidFill>
              </a:rPr>
              <a:t>01  현재 상황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시연 프로젝트의 구조적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4572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303520" cy="5029200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8A07"/>
                </a:solidFill>
              </a:rPr>
              <a:t>[ 현재 시연 프로젝트 구조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CCFF"/>
                </a:solidFill>
              </a:rPr>
              <a:t>        브라우저 (FE)
   ┌──────────────────────┐
   │  beInstance   extInstance │
   └──────┬───────────┬────┘
          │ /api/v1/  │ /api/ext/**
          │ auth/**   │  (26개 API)
          ▼           ▼
       [ido BFF]   [Q-IM] ◄── 실질적
      (7개 엔드  (인증+회원+        전면
       포인트만)  프로비저닝
                  +약관+동의
                  +기업인증…)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394960"/>
            <a:ext cx="5120640" cy="868680"/>
          </a:xfrm>
          <a:prstGeom prst="rect">
            <a:avLst/>
          </a:prstGeom>
          <a:solidFill>
            <a:srgbClr val="4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440680"/>
            <a:ext cx="5029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8A07"/>
                </a:solidFill>
              </a:rPr>
              <a:t>⚠  단일 장애점: Q-IM 장애 = 서비스 전체 중단
    Pod 늘려도 병목은 Q-IM 한 곳에 집중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63040"/>
            <a:ext cx="5577840" cy="160020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1143000" cy="347472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46304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PROBLEM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148132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72638"/>
                </a:solidFill>
              </a:rPr>
              <a:t>Q-IM이 전면 시스템 역할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20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• FE→Q-IM 직접 호출 26개 API
• 회원·프로비저닝·약관·동의·기업인증
  모두 Q-IM 직접 접근
• ido BFF는 NICE/OACX 7개만 처리
→ 보안 정책·감사로그 집행 불가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154680"/>
            <a:ext cx="5577840" cy="160020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154680"/>
            <a:ext cx="1143000" cy="347472"/>
          </a:xfrm>
          <a:prstGeom prst="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15468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PROBLEM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17296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8A07"/>
                </a:solidFill>
              </a:rPr>
              <a:t>확장 불가능한 단층 구조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66160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• Q-IM 호출 경로에 Rate Limit 없음
• Circuit Breaker 미적용
• 기관별 트래픽 격리 없음
• 수평 확장해도 Q-IM이 병목
→ TPO 수만 이상에서 붕괴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4846320"/>
            <a:ext cx="5577840" cy="160020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846320"/>
            <a:ext cx="1143000" cy="34747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84632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PROBLEM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8646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설계 불일치 &amp; 시연용 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57800"/>
            <a:ext cx="53949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BCCDD"/>
                </a:solidFill>
              </a:rPr>
              <a:t>• SKIP_AUTH=true — 인증 전체 우회
• AES_GCM_KEY 평문 JS 번들 노출
• Math.random() 임시 비밀번호
• q-sign OIDC 브로커 미구현
→ 운영 전환 시 전면 재작업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ED6"/>
                </a:solidFill>
              </a:rPr>
              <a:t>02  목표 수치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TPO 100,000 — 이게 왜 중요한가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4572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10698480" cy="1005840"/>
          </a:xfrm>
          <a:prstGeom prst="rect">
            <a:avLst/>
          </a:prstGeom>
          <a:solidFill>
            <a:srgbClr val="0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109728" cy="1005840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TPO (Transactions Per Operation)  =  일 단위 통합인증 처리 건수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9601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연계 기관 수 × 기관별 일 평균 인증 요청 건수  |  피크 시간대 집중도 포함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33472"/>
            <a:ext cx="3520440" cy="384048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633472"/>
            <a:ext cx="3520440" cy="384048"/>
          </a:xfrm>
          <a:prstGeom prst="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334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현재 시연 프로젝트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8A07"/>
                </a:solidFill>
              </a:rPr>
              <a:t>~수백 TPO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221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단일 인스턴스 Q-IM 직접 호출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793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Rate Limit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7365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Circuit Breaker 미적용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937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→ 실 부하 시 붕괴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633472"/>
            <a:ext cx="3520440" cy="384048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34840" y="2633472"/>
            <a:ext cx="3520440" cy="384048"/>
          </a:xfrm>
          <a:prstGeom prst="rect">
            <a:avLst/>
          </a:prstGeom>
          <a:solidFill>
            <a:srgbClr val="1A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6334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중기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090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5CBF"/>
                </a:solidFill>
              </a:rPr>
              <a:t>10,000 TPO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8221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ido 수평 확장 (Pod 3~5개)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2793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Redis 캐싱 적용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365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기관별 Rate Limit 활성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1937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→ Resilience4j CB 보호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2633472"/>
            <a:ext cx="3520440" cy="384048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60" y="2633472"/>
            <a:ext cx="3520440" cy="384048"/>
          </a:xfrm>
          <a:prstGeom prst="rect">
            <a:avLst/>
          </a:prstGeom>
          <a:solidFill>
            <a:srgbClr val="00B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6334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최종 목표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090672"/>
            <a:ext cx="3520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072"/>
                </a:solidFill>
              </a:rPr>
              <a:t>100,000 TPO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8221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EDA (Kafka) 비동기 처리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2793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Q-IM 읽기 복제본 분리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7365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K8s HPA 자동 확장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20" y="519379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→ 피크 5× 버스트 수용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6446520"/>
            <a:ext cx="10698480" cy="292608"/>
          </a:xfrm>
          <a:prstGeom prst="rect">
            <a:avLst/>
          </a:prstGeom>
          <a:solidFill>
            <a:srgbClr val="003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6464808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072"/>
                </a:solidFill>
              </a:rPr>
              <a:t>TPO 100k 달성 3대 조건:  ① 수평 확장 가능한 Stateless 설계  ② 동기 직접 호출 → EDA 비동기 전환  ③ 단일 장애점 제거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72"/>
                </a:solidFill>
              </a:rPr>
              <a:t>03  목표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integration-sso — 100k TPO를 위한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4572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698480" cy="713232"/>
          </a:xfrm>
          <a:prstGeom prst="rect">
            <a:avLst/>
          </a:prstGeom>
          <a:solidFill>
            <a:srgbClr val="063A5C"/>
          </a:solidFill>
          <a:ln w="1524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1005840" cy="713232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72184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브라우저 / onepass-fe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78308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99"/>
                </a:solidFill>
              </a:rPr>
              <a:t>단일 인스턴스 → /api/v1/** → ido BFF  |  extInstance 없음 (목표)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12848"/>
            <a:ext cx="10698480" cy="804672"/>
          </a:xfrm>
          <a:prstGeom prst="rect">
            <a:avLst/>
          </a:prstGeom>
          <a:solidFill>
            <a:srgbClr val="06284A"/>
          </a:solidFill>
          <a:ln w="15240">
            <a:solidFill>
              <a:srgbClr val="1A5C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12848"/>
            <a:ext cx="1005840" cy="804672"/>
          </a:xfrm>
          <a:prstGeom prst="rect">
            <a:avLst/>
          </a:prstGeom>
          <a:solidFill>
            <a:srgbClr val="1A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12848"/>
            <a:ext cx="1005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SCALE-OUT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26771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ido  —  정책 오케스트레이터 + FE BFF  (수평 확장 가능)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7004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99"/>
                </a:solidFill>
              </a:rPr>
              <a:t>Handoff·Auth·SLO·Rate Limit·Circuit Breaker·Audit Log · K8s HPA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90672"/>
            <a:ext cx="10698480" cy="713232"/>
          </a:xfrm>
          <a:prstGeom prst="rect">
            <a:avLst/>
          </a:prstGeom>
          <a:solidFill>
            <a:srgbClr val="0A1E38"/>
          </a:solidFill>
          <a:ln w="15240">
            <a:solidFill>
              <a:srgbClr val="00A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90672"/>
            <a:ext cx="1005840" cy="713232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90672"/>
            <a:ext cx="1005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145536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Kafka  —  비동기 이벤트 버스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45643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99"/>
                </a:solidFill>
              </a:rPr>
              <a:t>qsign.auth.events  |  qim.user.events  |  Outbox 패턴 (At-least-once)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858768"/>
            <a:ext cx="10698480" cy="804672"/>
          </a:xfrm>
          <a:prstGeom prst="rect">
            <a:avLst/>
          </a:prstGeom>
          <a:solidFill>
            <a:srgbClr val="06284A"/>
          </a:solidFill>
          <a:ln w="15240">
            <a:solidFill>
              <a:srgbClr val="00B0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58768"/>
            <a:ext cx="1005840" cy="804672"/>
          </a:xfrm>
          <a:prstGeom prst="rect">
            <a:avLst/>
          </a:prstGeom>
          <a:solidFill>
            <a:srgbClr val="00B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858768"/>
            <a:ext cx="1005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91363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Q-Sign  (인증 SoR)                      Q-IM  (식별 SoR)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3159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99"/>
                </a:solidFill>
              </a:rPr>
              <a:t>OIDC 브로커·PKCE·JWT                    qimUserId·CI AES-256-GCM·DI HMAC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736592"/>
            <a:ext cx="10698480" cy="658368"/>
          </a:xfrm>
          <a:prstGeom prst="rect">
            <a:avLst/>
          </a:prstGeom>
          <a:solidFill>
            <a:srgbClr val="0A1E38"/>
          </a:solidFill>
          <a:ln w="1524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736592"/>
            <a:ext cx="1005840" cy="658368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736592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INFRA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791456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인프라:  Redis Cluster  |  PostgreSQL  |  MariaDB  |  K8s Secrets/ConfigMap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0474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8899"/>
                </a:solidFill>
              </a:rPr>
              <a:t>Prometheus · Grafana · Loki · OTel AOP 계측  |  Flyway 마이그레이션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21488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3017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37947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0" y="46634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99"/>
                </a:solidFill>
              </a:rPr>
              <a:t>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5486400"/>
            <a:ext cx="10698480" cy="658368"/>
          </a:xfrm>
          <a:prstGeom prst="rect">
            <a:avLst/>
          </a:prstGeom>
          <a:solidFill>
            <a:srgbClr val="0415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5486400"/>
            <a:ext cx="1005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8899"/>
                </a:solidFill>
              </a:rPr>
              <a:t>외부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5559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• NICE IDO (휴대폰 인증)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5559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• OACX SDK (간편서명)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5559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• Keycloak (소셜 IdP 브로커)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5559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• NHN Cloud SKM (키 관리)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559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CC"/>
                </a:solidFill>
              </a:rPr>
              <a:t>• agency-stub (유관기관 E2E)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2267712"/>
            <a:ext cx="2377440" cy="347472"/>
          </a:xfrm>
          <a:prstGeom prst="rect">
            <a:avLst/>
          </a:prstGeom>
          <a:solidFill>
            <a:srgbClr val="1A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06840" y="2286000"/>
            <a:ext cx="2286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→ K8s HPA: Pod 자동 증가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A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AED6"/>
                </a:solidFill>
              </a:rPr>
              <a:t>04 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시연 프로젝트  vs  integration-sso 목표 설계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4572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1155680" cy="384048"/>
          </a:xfrm>
          <a:prstGeom prst="rect">
            <a:avLst/>
          </a:prstGeom>
          <a:solidFill>
            <a:srgbClr val="0F3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356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D6"/>
                </a:solidFill>
              </a:rPr>
              <a:t>검토 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3560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D6"/>
                </a:solidFill>
              </a:rPr>
              <a:t>시연 프로젝트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4356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D6"/>
                </a:solidFill>
              </a:rPr>
              <a:t>integration-sso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143560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D6"/>
                </a:solidFill>
              </a:rPr>
              <a:t>상태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11155680" cy="46634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87452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FE → 백엔드 경로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5623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이중 경로
(ido + Q-IM 직접)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85623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단일 경로
(ido BFF만)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1920240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295144"/>
            <a:ext cx="11155680" cy="466344"/>
          </a:xfrm>
          <a:prstGeom prst="rect">
            <a:avLst/>
          </a:prstGeom>
          <a:solidFill>
            <a:srgbClr val="09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4086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인증 우회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322576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SKIP_AUTH=true
활성 상태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32257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제거 완료
(운영 동일 코드)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2386584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61488"/>
            <a:ext cx="11155680" cy="46634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80720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암호화 키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78892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AES_GCM_KEY
.env 평문 번들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278892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서버사이드
Vault/KMS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852928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3227832"/>
            <a:ext cx="11155680" cy="466344"/>
          </a:xfrm>
          <a:prstGeom prst="rect">
            <a:avLst/>
          </a:prstGeom>
          <a:solidFill>
            <a:srgbClr val="09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27355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OIDC 브로커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3255264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Keycloak 위임
표준 엔드포인트 없음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25526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q-sign이 표준 OP
/.well-known 포함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3319272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694176"/>
            <a:ext cx="11155680" cy="46634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73989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수평 확장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72160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Q-IM 단층
확장 불가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72160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ido K8s HPA
Stateless 설계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3785616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160520"/>
            <a:ext cx="11155680" cy="466344"/>
          </a:xfrm>
          <a:prstGeom prst="rect">
            <a:avLst/>
          </a:prstGeom>
          <a:solidFill>
            <a:srgbClr val="09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20624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장애 격리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418795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Circuit Breaker
미적용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18795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Resilience4j CB
기관별 격리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4251960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4626864"/>
            <a:ext cx="11155680" cy="46634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672584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Rate Limiting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4654296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기관별 제어 없음
폭주 시 Q-IM 붕괴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65429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AgencyRateLimiter
기관별 TPS 제어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07040" y="4718304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5093208"/>
            <a:ext cx="11155680" cy="466344"/>
          </a:xfrm>
          <a:prstGeom prst="rect">
            <a:avLst/>
          </a:prstGeom>
          <a:solidFill>
            <a:srgbClr val="09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5138928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비동기 처리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0" y="512064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동기 직접 호출
Q-IM 응답 대기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120640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Kafka EDA
Outbox 패턴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5184648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5559552"/>
            <a:ext cx="11155680" cy="46634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" y="5605272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감사 로그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0" y="5586984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Q-IM 직접 구간
추적 불가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5586984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BrokerAuditLog
전 구간 기록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5650992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6025896"/>
            <a:ext cx="11155680" cy="466344"/>
          </a:xfrm>
          <a:prstGeom prst="rect">
            <a:avLst/>
          </a:prstGeom>
          <a:solidFill>
            <a:srgbClr val="091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6071616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임시 비밀번호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0" y="605332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Math.random()
FE 클라이언트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40880" y="6053328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SecureRandom
BE API 발급 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607040" y="6117336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8A07"/>
                </a:solidFill>
              </a:rPr>
              <a:t>🟡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" y="6492240"/>
            <a:ext cx="11155680" cy="466344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6537960"/>
            <a:ext cx="2377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CI 보안(Q3=B)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0" y="6519672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A88"/>
                </a:solidFill>
              </a:rPr>
              <a:t>FE에서 CI 암호화
직접 Q-IM 전송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040880" y="6519672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FFCC"/>
                </a:solidFill>
              </a:rPr>
              <a:t>CI FE 미반환
BE 내부 처리 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6583680"/>
            <a:ext cx="14630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58A07"/>
                </a:solidFill>
              </a:rPr>
              <a:t>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8A07"/>
                </a:solidFill>
              </a:rPr>
              <a:t>05  전환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왜 지금 방향을 바꿔야 하는가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4572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5120640" cy="3200400"/>
          </a:xfrm>
          <a:prstGeom prst="rect">
            <a:avLst/>
          </a:prstGeom>
          <a:solidFill>
            <a:srgbClr val="0A1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8A07"/>
                </a:solidFill>
              </a:rPr>
              <a:t>시간 경과에 따른 재작업 비용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8A07"/>
                </a:solidFill>
              </a:rPr>
              <a:t>  재                     시연 방식 계속  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2257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  작                                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249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  업                            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2724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072"/>
                </a:solidFill>
              </a:rPr>
              <a:t>  비       전환 비용 ●        ╱  ← 기하급수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2958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  용              ▔▔▔▔▔▔▔▔▔▔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319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AACC"/>
                </a:solidFill>
              </a:rPr>
              <a:t>       지금   3개월후   6개월후   운영 전환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736592"/>
            <a:ext cx="5120640" cy="182880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7316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72638"/>
                </a:solidFill>
              </a:rPr>
              <a:t>지금 전환하지 않으면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66360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88"/>
                </a:solidFill>
              </a:rPr>
              <a:t>→ 각 팀이 다른 방향으로 더 깊이 개발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95544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88"/>
                </a:solidFill>
              </a:rPr>
              <a:t>→ 3개월 후 코드 충돌·통합 비용 폭증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24728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88"/>
                </a:solidFill>
              </a:rPr>
              <a:t>→ 운영 전환 시 사실상 전면 재개발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153912"/>
            <a:ext cx="4937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A88"/>
                </a:solidFill>
              </a:rPr>
              <a:t>→ 보안 우회 코드가 운영 환경에 진입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444752"/>
            <a:ext cx="5577840" cy="1627632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35040" y="1444752"/>
            <a:ext cx="109728" cy="1627632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536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AED6"/>
                </a:solidFill>
              </a:rPr>
              <a:t>설계 원칙 충돌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90195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현재 구조는 ADR-001(IdO 완전 중재 패턴)과
정면 충돌합니다. FE가 Q-IM을 직접 호출하는
구조는 보안 정책·감사·Rate Limit을 집행할
단일 지점 자체가 없습니다.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3182112"/>
            <a:ext cx="5577840" cy="1627632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35040" y="3182112"/>
            <a:ext cx="109728" cy="1627632"/>
          </a:xfrm>
          <a:prstGeom prst="rect">
            <a:avLst/>
          </a:prstGeom>
          <a:solidFill>
            <a:srgbClr val="00B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32735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072"/>
                </a:solidFill>
              </a:rPr>
              <a:t>재사용 가능한 기반 이미 존재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63931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integration-sso BE는 이미 93% 완성.
빌드 성공, 397개 테스트 통과 상태.
지금 기준점을 잡으면 추가 Sprint만으로
운영 전환이 가능합니다.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919472"/>
            <a:ext cx="5577840" cy="1627632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4919472"/>
            <a:ext cx="109728" cy="1627632"/>
          </a:xfrm>
          <a:prstGeom prst="rect">
            <a:avLst/>
          </a:prstGeom>
          <a:solidFill>
            <a:srgbClr val="F58A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50109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8A07"/>
                </a:solidFill>
              </a:rPr>
              <a:t>확장 한계는 구조에서 결정됨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5376672"/>
            <a:ext cx="53035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DD"/>
                </a:solidFill>
              </a:rPr>
              <a:t>성능은 코드 최적화로 개선하지만,
확장성은 설계에서 결정됩니다.
단층 Q-IM 직접 호출 구조는 아무리
튜닝해도 TPO 상한이 존재합니다.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B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72"/>
                </a:solidFill>
              </a:rPr>
              <a:t>06 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3단계 전환 로드맵 — 팀별 역할 포함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10698480" cy="45720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3547872" cy="516636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44752"/>
            <a:ext cx="3547872" cy="749808"/>
          </a:xfrm>
          <a:prstGeom prst="rect">
            <a:avLst/>
          </a:prstGeom>
          <a:solidFill>
            <a:srgbClr val="1A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FE 구조 정렬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249424"/>
            <a:ext cx="1810512" cy="274320"/>
          </a:xfrm>
          <a:prstGeom prst="rect">
            <a:avLst/>
          </a:prstGeom>
          <a:solidFill>
            <a:srgbClr val="05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2267712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5CBF"/>
                </a:solidFill>
              </a:rPr>
              <a:t>⏱  착수 후 4주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목표: FE → ido 단일 경로 전환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9923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extInstance 26개 API → ido BFF 경유로 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SKIP_AUTH 스위치 완전 제거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67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AES_GCM_KEY FE 노출 제거 → Q3=B 원칙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1513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Math.random() → GET /api/v1/auth/provision/temp-password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3542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Mock 데이터 INITIAL_DATA 완전 제거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285232"/>
            <a:ext cx="3547872" cy="320040"/>
          </a:xfrm>
          <a:prstGeom prst="rect">
            <a:avLst/>
          </a:prstGeom>
          <a:solidFill>
            <a:srgbClr val="04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30352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팀: FE팀 주도  /  BE팀 API 지원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623560"/>
            <a:ext cx="3547872" cy="384048"/>
          </a:xfrm>
          <a:prstGeom prst="rect">
            <a:avLst/>
          </a:prstGeom>
          <a:solidFill>
            <a:srgbClr val="1A5C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41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FE 단일 경로 달성 · 보안 우회 코드 Zero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1444752"/>
            <a:ext cx="3547872" cy="516636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1444752"/>
            <a:ext cx="3547872" cy="749808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59" y="144475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178308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q-sign OIDC 표준화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49239" y="2249424"/>
            <a:ext cx="1810512" cy="274320"/>
          </a:xfrm>
          <a:prstGeom prst="rect">
            <a:avLst/>
          </a:prstGeom>
          <a:solidFill>
            <a:srgbClr val="05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39" y="2267712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AED6"/>
                </a:solidFill>
              </a:rPr>
              <a:t>⏱  5~10주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9" y="2606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목표: q-sign이 표준 OIDC Provider 역할 수행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299923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/.well-known/openid-configuration 구현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1999" y="33832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/authorize · /token · /userinfo · /jwks 엔드포인트 구현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1999" y="3767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strict-mode=true 활성 (내부 서명 검증 강화)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1999" y="41513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외부 서비스(SP)가 q-sign을 OIDC OP로 직접 연동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1999" y="453542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기업인증 진위확인 정식 API 연동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59" y="5285232"/>
            <a:ext cx="3547872" cy="320040"/>
          </a:xfrm>
          <a:prstGeom prst="rect">
            <a:avLst/>
          </a:prstGeom>
          <a:solidFill>
            <a:srgbClr val="04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1999" y="530352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팀: BE팀(q-sign) 주도  /  ido 연동 지원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59" y="5623560"/>
            <a:ext cx="3547872" cy="384048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1999" y="5641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표준 OIDC 브로커 완성 · 외부 SP 연동 가능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598" y="1444752"/>
            <a:ext cx="3547872" cy="516636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598" y="1444752"/>
            <a:ext cx="3547872" cy="749808"/>
          </a:xfrm>
          <a:prstGeom prst="rect">
            <a:avLst/>
          </a:prstGeom>
          <a:solidFill>
            <a:srgbClr val="00B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8" y="1444752"/>
            <a:ext cx="3547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Phase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598" y="1783080"/>
            <a:ext cx="3547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운영 전환 &amp; 확장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98278" y="2249424"/>
            <a:ext cx="1810512" cy="274320"/>
          </a:xfrm>
          <a:prstGeom prst="rect">
            <a:avLst/>
          </a:prstGeom>
          <a:solidFill>
            <a:srgbClr val="05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98278" y="2267712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B072"/>
                </a:solidFill>
              </a:rPr>
              <a:t>⏱  11~16주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38" y="2606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목표: K8s 배포 · 모니터링 · TPO 10k → 100k 확장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38" y="2999232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K8s HPA 자동 확장 설정 (ido Pod 3→N개)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38" y="3383280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Kafka EDA 비동기 처리 전환 (동기 → 이벤트)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38" y="3767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Q-IM 읽기 복제본 분리 (조회 부하 분산)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38" y="41513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Grafana SLO 대시보드 운영 모니터링 연결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38" y="4535424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BCCDD"/>
                </a:solidFill>
              </a:rPr>
              <a:t>• k6 부하 테스트 100k TPO 달성 검증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598" y="5285232"/>
            <a:ext cx="3547872" cy="320040"/>
          </a:xfrm>
          <a:prstGeom prst="rect">
            <a:avLst/>
          </a:prstGeom>
          <a:solidFill>
            <a:srgbClr val="041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38" y="5303520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99"/>
                </a:solidFill>
              </a:rPr>
              <a:t>팀: 인프라팀 주도  /  전 팀 협업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598" y="5623560"/>
            <a:ext cx="3547872" cy="384048"/>
          </a:xfrm>
          <a:prstGeom prst="rect">
            <a:avLst/>
          </a:prstGeom>
          <a:solidFill>
            <a:srgbClr val="00B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38" y="5641848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✓  운영 배포 완료 · TPO 100k 목표 달성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6080760"/>
            <a:ext cx="10698480" cy="73152"/>
          </a:xfrm>
          <a:prstGeom prst="rect">
            <a:avLst/>
          </a:prstGeom>
          <a:solidFill>
            <a:srgbClr val="2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114800" y="6035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▶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39" y="6035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▶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612878" y="60350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99"/>
                </a:solidFill>
              </a:rPr>
              <a:t>▶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144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72"/>
                </a:solidFill>
              </a:rPr>
              <a:t>착수 (5월 13일)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0" y="6144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→ 4주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26679" y="61447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→ 10주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875520" y="614476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72"/>
                </a:solidFill>
              </a:rPr>
              <a:t>TPO 100k 달성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0"/>
            <a:ext cx="10769320396800" cy="109728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결론 및 요청사항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9728" cy="1463040"/>
          </a:xfrm>
          <a:prstGeom prst="rect">
            <a:avLst/>
          </a:prstGeom>
          <a:solidFill>
            <a:srgbClr val="D72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72638"/>
                </a:solidFill>
              </a:rPr>
              <a:t>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72638"/>
                </a:solidFill>
              </a:rPr>
              <a:t>시연 프로젝트의 가장 큰 문제는 '미완성'이 아닙니다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19072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Q-IM 직접 호출 구조와 단층 아키텍처는 운영 전환과 TPO 확장이
구조적으로 불가능합니다. 코드를 고쳐서 해결할 수 있는 문제가 아닙니다.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61488"/>
            <a:ext cx="10698480" cy="146304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61488"/>
            <a:ext cx="109728" cy="1463040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529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AED6"/>
                </a:solidFill>
              </a:rPr>
              <a:t>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85292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AED6"/>
                </a:solidFill>
              </a:rPr>
              <a:t>integration-sso는 그 답을 이미 설계해 두었습니다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2918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수평 확장 가능한 ido BFF, Kafka EDA, Resilience4j Circuit Breaker,
K8s HPA — TPO 100k를 위한 구성 요소가 93% 구현 완료 상태입니다.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334256"/>
            <a:ext cx="10698480" cy="1463040"/>
          </a:xfrm>
          <a:prstGeom prst="rect">
            <a:avLst/>
          </a:prstGeom>
          <a:solidFill>
            <a:srgbClr val="0D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334256"/>
            <a:ext cx="109728" cy="1463040"/>
          </a:xfrm>
          <a:prstGeom prst="rect">
            <a:avLst/>
          </a:prstGeom>
          <a:solidFill>
            <a:srgbClr val="00B0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2569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00B072"/>
                </a:solidFill>
              </a:rPr>
              <a:t>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2569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072"/>
                </a:solidFill>
              </a:rPr>
              <a:t>지금이 방향을 잡기 가장 좋은 시점입니다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864608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DEE"/>
                </a:solidFill>
              </a:rPr>
              <a:t>각 팀이 서로 다른 방향으로 더 깊이 들어가기 전에,
오늘 회의에서 방향을 정렬하면 전환 비용을 최소화할 수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870448"/>
            <a:ext cx="10698480" cy="713232"/>
          </a:xfrm>
          <a:prstGeom prst="rect">
            <a:avLst/>
          </a:prstGeom>
          <a:solidFill>
            <a:srgbClr val="00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870448"/>
            <a:ext cx="10698480" cy="54864"/>
          </a:xfrm>
          <a:prstGeom prst="rect">
            <a:avLst/>
          </a:prstGeom>
          <a:solidFill>
            <a:srgbClr val="00A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943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AED6"/>
                </a:solidFill>
              </a:rPr>
              <a:t>오늘 회의에서 결정해 주실 사항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291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① integration-sso를 정식 개발 기준으로 채택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6291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② 각 팀 5월 13일부터 Phase 1 착수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629107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③ 팀별 역할 분담 확정 (FE팀 / BE팀 / 인프라팀)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